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11518" r:id="rId2"/>
    <p:sldId id="11519" r:id="rId3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리더십 영향력 진단" id="{36EF8F81-4E80-4DF0-895E-8453566FB0F8}">
          <p14:sldIdLst>
            <p14:sldId id="11518"/>
            <p14:sldId id="11519"/>
          </p14:sldIdLst>
        </p14:section>
      </p14:sectionLst>
    </p:ext>
    <p:ext uri="{EFAFB233-063F-42B5-8137-9DF3F51BA10A}">
      <p15:sldGuideLst xmlns:p15="http://schemas.microsoft.com/office/powerpoint/2012/main">
        <p15:guide id="3" pos="257" userDrawn="1">
          <p15:clr>
            <a:srgbClr val="A4A3A4"/>
          </p15:clr>
        </p15:guide>
        <p15:guide id="4" orient="horz" pos="2228" userDrawn="1">
          <p15:clr>
            <a:srgbClr val="A4A3A4"/>
          </p15:clr>
        </p15:guide>
        <p15:guide id="8" pos="7423" userDrawn="1">
          <p15:clr>
            <a:srgbClr val="A4A3A4"/>
          </p15:clr>
        </p15:guide>
        <p15:guide id="9" orient="horz" pos="4020" userDrawn="1">
          <p15:clr>
            <a:srgbClr val="A4A3A4"/>
          </p15:clr>
        </p15:guide>
        <p15:guide id="10" orient="horz" pos="958" userDrawn="1">
          <p15:clr>
            <a:srgbClr val="A4A3A4"/>
          </p15:clr>
        </p15:guide>
        <p15:guide id="11" orient="horz" pos="2432" userDrawn="1">
          <p15:clr>
            <a:srgbClr val="A4A3A4"/>
          </p15:clr>
        </p15:guide>
        <p15:guide id="12" pos="6312" userDrawn="1">
          <p15:clr>
            <a:srgbClr val="A4A3A4"/>
          </p15:clr>
        </p15:guide>
        <p15:guide id="13" pos="13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0B1"/>
    <a:srgbClr val="A6A6A6"/>
    <a:srgbClr val="CB3D6C"/>
    <a:srgbClr val="CF5959"/>
    <a:srgbClr val="666666"/>
    <a:srgbClr val="C00000"/>
    <a:srgbClr val="E4EDF5"/>
    <a:srgbClr val="FFFFFF"/>
    <a:srgbClr val="860C2F"/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136" autoAdjust="0"/>
    <p:restoredTop sz="96196" autoAdjust="0"/>
  </p:normalViewPr>
  <p:slideViewPr>
    <p:cSldViewPr snapToGrid="0">
      <p:cViewPr varScale="1">
        <p:scale>
          <a:sx n="102" d="100"/>
          <a:sy n="102" d="100"/>
        </p:scale>
        <p:origin x="1152" y="108"/>
      </p:cViewPr>
      <p:guideLst>
        <p:guide pos="257"/>
        <p:guide orient="horz" pos="2228"/>
        <p:guide pos="7423"/>
        <p:guide orient="horz" pos="4020"/>
        <p:guide orient="horz" pos="958"/>
        <p:guide orient="horz" pos="2432"/>
        <p:guide pos="6312"/>
        <p:guide pos="13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104-4782-9752-FC5D25AE17EC}"/>
              </c:ext>
            </c:extLst>
          </c:dPt>
          <c:dPt>
            <c:idx val="1"/>
            <c:invertIfNegative val="0"/>
            <c:bubble3D val="0"/>
            <c:spPr>
              <a:solidFill>
                <a:srgbClr val="4480B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104-4782-9752-FC5D25AE17EC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104-4782-9752-FC5D25AE17EC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104-4782-9752-FC5D25AE17EC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416-448A-8AC1-73DA252A779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Position</c:v>
                </c:pt>
                <c:pt idx="1">
                  <c:v>Personality</c:v>
                </c:pt>
                <c:pt idx="2">
                  <c:v>Relationship</c:v>
                </c:pt>
                <c:pt idx="3">
                  <c:v>Results</c:v>
                </c:pt>
                <c:pt idx="4">
                  <c:v>Development</c:v>
                </c:pt>
                <c:pt idx="5">
                  <c:v>Principles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3.8333333333333335</c:v>
                </c:pt>
                <c:pt idx="1">
                  <c:v>4</c:v>
                </c:pt>
                <c:pt idx="2">
                  <c:v>2.8333333333333335</c:v>
                </c:pt>
                <c:pt idx="3">
                  <c:v>3.75</c:v>
                </c:pt>
                <c:pt idx="4">
                  <c:v>3.75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04-4782-9752-FC5D25AE1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1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  <c:max val="5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5027446906468022E-2"/>
          <c:y val="0.21674023637028964"/>
          <c:w val="0.94848079897059345"/>
          <c:h val="0.655080595934443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C0-489A-AF23-4ACC5E18609F}"/>
              </c:ext>
            </c:extLst>
          </c:dPt>
          <c:dPt>
            <c:idx val="9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C0-489A-AF23-4ACC5E18609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우호성</c:v>
                </c:pt>
                <c:pt idx="1">
                  <c:v>동기유발</c:v>
                </c:pt>
                <c:pt idx="2">
                  <c:v>자문</c:v>
                </c:pt>
                <c:pt idx="3">
                  <c:v>평균</c:v>
                </c:pt>
                <c:pt idx="4">
                  <c:v>협력제휴</c:v>
                </c:pt>
                <c:pt idx="5">
                  <c:v>협상거래</c:v>
                </c:pt>
                <c:pt idx="6">
                  <c:v>합리적설득</c:v>
                </c:pt>
                <c:pt idx="7">
                  <c:v>합법화</c:v>
                </c:pt>
                <c:pt idx="8">
                  <c:v>강요</c:v>
                </c:pt>
                <c:pt idx="9">
                  <c:v>평균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3.75</c:v>
                </c:pt>
                <c:pt idx="1">
                  <c:v>4</c:v>
                </c:pt>
                <c:pt idx="2">
                  <c:v>4</c:v>
                </c:pt>
                <c:pt idx="3">
                  <c:v>3.92</c:v>
                </c:pt>
                <c:pt idx="4">
                  <c:v>3.25</c:v>
                </c:pt>
                <c:pt idx="5">
                  <c:v>2.5</c:v>
                </c:pt>
                <c:pt idx="6">
                  <c:v>4</c:v>
                </c:pt>
                <c:pt idx="7">
                  <c:v>3.25</c:v>
                </c:pt>
                <c:pt idx="8">
                  <c:v>2.75</c:v>
                </c:pt>
                <c:pt idx="9">
                  <c:v>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C0-489A-AF23-4ACC5E1860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0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104-4782-9752-FC5D25AE17EC}"/>
              </c:ext>
            </c:extLst>
          </c:dPt>
          <c:dPt>
            <c:idx val="1"/>
            <c:invertIfNegative val="0"/>
            <c:bubble3D val="0"/>
            <c:spPr>
              <a:solidFill>
                <a:srgbClr val="4480B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104-4782-9752-FC5D25AE17EC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104-4782-9752-FC5D25AE17EC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104-4782-9752-FC5D25AE17EC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416-448A-8AC1-73DA252A779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Position</c:v>
                </c:pt>
                <c:pt idx="1">
                  <c:v>Personality</c:v>
                </c:pt>
                <c:pt idx="2">
                  <c:v>Relationship</c:v>
                </c:pt>
                <c:pt idx="3">
                  <c:v>Results</c:v>
                </c:pt>
                <c:pt idx="4">
                  <c:v>Development</c:v>
                </c:pt>
                <c:pt idx="5">
                  <c:v>Principles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3.8333333333333335</c:v>
                </c:pt>
                <c:pt idx="1">
                  <c:v>4</c:v>
                </c:pt>
                <c:pt idx="2">
                  <c:v>2.8333333333333335</c:v>
                </c:pt>
                <c:pt idx="3">
                  <c:v>3.75</c:v>
                </c:pt>
                <c:pt idx="4">
                  <c:v>3.75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04-4782-9752-FC5D25AE1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1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  <c:max val="5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5027446906468022E-2"/>
          <c:y val="0.21674023637028964"/>
          <c:w val="0.94848079897059345"/>
          <c:h val="0.655080595934443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C0-489A-AF23-4ACC5E18609F}"/>
              </c:ext>
            </c:extLst>
          </c:dPt>
          <c:dPt>
            <c:idx val="9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C0-489A-AF23-4ACC5E18609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우호성</c:v>
                </c:pt>
                <c:pt idx="1">
                  <c:v>동기유발</c:v>
                </c:pt>
                <c:pt idx="2">
                  <c:v>자문</c:v>
                </c:pt>
                <c:pt idx="3">
                  <c:v>평균</c:v>
                </c:pt>
                <c:pt idx="4">
                  <c:v>협력제휴</c:v>
                </c:pt>
                <c:pt idx="5">
                  <c:v>협상거래</c:v>
                </c:pt>
                <c:pt idx="6">
                  <c:v>합리적설득</c:v>
                </c:pt>
                <c:pt idx="7">
                  <c:v>합법화</c:v>
                </c:pt>
                <c:pt idx="8">
                  <c:v>강요</c:v>
                </c:pt>
                <c:pt idx="9">
                  <c:v>평균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3.75</c:v>
                </c:pt>
                <c:pt idx="1">
                  <c:v>4</c:v>
                </c:pt>
                <c:pt idx="2">
                  <c:v>4</c:v>
                </c:pt>
                <c:pt idx="3">
                  <c:v>3.92</c:v>
                </c:pt>
                <c:pt idx="4">
                  <c:v>3.25</c:v>
                </c:pt>
                <c:pt idx="5">
                  <c:v>2.5</c:v>
                </c:pt>
                <c:pt idx="6">
                  <c:v>4</c:v>
                </c:pt>
                <c:pt idx="7">
                  <c:v>3.25</c:v>
                </c:pt>
                <c:pt idx="8">
                  <c:v>2.75</c:v>
                </c:pt>
                <c:pt idx="9">
                  <c:v>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C0-489A-AF23-4ACC5E1860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0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436C9-A2EA-456D-A843-0E5112E88CE3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6808D-E8E3-48AE-8E75-45631061C6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364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4E3D3-B515-4C81-B19B-1140EF513BE4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6D3BEB-E339-48BE-BE50-66C56DCE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8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12293601" y="1303397"/>
            <a:ext cx="330201" cy="193947"/>
          </a:xfrm>
          <a:prstGeom prst="rect">
            <a:avLst/>
          </a:prstGeom>
          <a:solidFill>
            <a:srgbClr val="CF595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" name="직사각형 9"/>
          <p:cNvSpPr/>
          <p:nvPr userDrawn="1"/>
        </p:nvSpPr>
        <p:spPr>
          <a:xfrm>
            <a:off x="12293601" y="1497344"/>
            <a:ext cx="330201" cy="193947"/>
          </a:xfrm>
          <a:prstGeom prst="rect">
            <a:avLst/>
          </a:prstGeom>
          <a:solidFill>
            <a:srgbClr val="D48A4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1" name="직사각형 10"/>
          <p:cNvSpPr/>
          <p:nvPr userDrawn="1"/>
        </p:nvSpPr>
        <p:spPr>
          <a:xfrm>
            <a:off x="12293601" y="1691284"/>
            <a:ext cx="330201" cy="193947"/>
          </a:xfrm>
          <a:prstGeom prst="rect">
            <a:avLst/>
          </a:prstGeom>
          <a:solidFill>
            <a:srgbClr val="75BD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2" name="직사각형 11"/>
          <p:cNvSpPr/>
          <p:nvPr userDrawn="1"/>
        </p:nvSpPr>
        <p:spPr>
          <a:xfrm>
            <a:off x="12293601" y="1885229"/>
            <a:ext cx="330201" cy="193947"/>
          </a:xfrm>
          <a:prstGeom prst="rect">
            <a:avLst/>
          </a:prstGeom>
          <a:solidFill>
            <a:srgbClr val="7AA7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3" name="직사각형 12"/>
          <p:cNvSpPr/>
          <p:nvPr userDrawn="1"/>
        </p:nvSpPr>
        <p:spPr>
          <a:xfrm>
            <a:off x="12293601" y="2079185"/>
            <a:ext cx="330201" cy="193947"/>
          </a:xfrm>
          <a:prstGeom prst="rect">
            <a:avLst/>
          </a:prstGeom>
          <a:solidFill>
            <a:srgbClr val="BC7E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4" name="직사각형 13"/>
          <p:cNvSpPr/>
          <p:nvPr userDrawn="1"/>
        </p:nvSpPr>
        <p:spPr>
          <a:xfrm>
            <a:off x="12293601" y="2273132"/>
            <a:ext cx="330201" cy="193947"/>
          </a:xfrm>
          <a:prstGeom prst="rect">
            <a:avLst/>
          </a:prstGeom>
          <a:solidFill>
            <a:srgbClr val="B08CD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5" name="직사각형 14"/>
          <p:cNvSpPr/>
          <p:nvPr userDrawn="1"/>
        </p:nvSpPr>
        <p:spPr>
          <a:xfrm>
            <a:off x="12293601" y="2467079"/>
            <a:ext cx="330201" cy="193947"/>
          </a:xfrm>
          <a:prstGeom prst="rect">
            <a:avLst/>
          </a:prstGeom>
          <a:solidFill>
            <a:srgbClr val="BCBC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8" name="직사각형 7"/>
          <p:cNvSpPr/>
          <p:nvPr userDrawn="1"/>
        </p:nvSpPr>
        <p:spPr>
          <a:xfrm>
            <a:off x="12293601" y="0"/>
            <a:ext cx="330201" cy="360000"/>
          </a:xfrm>
          <a:prstGeom prst="rect">
            <a:avLst/>
          </a:prstGeom>
          <a:solidFill>
            <a:srgbClr val="EF1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7" name="직사각형 16"/>
          <p:cNvSpPr/>
          <p:nvPr userDrawn="1"/>
        </p:nvSpPr>
        <p:spPr>
          <a:xfrm>
            <a:off x="12293601" y="412413"/>
            <a:ext cx="330201" cy="360000"/>
          </a:xfrm>
          <a:prstGeom prst="rect">
            <a:avLst/>
          </a:prstGeom>
          <a:solidFill>
            <a:srgbClr val="3840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8" name="직사각형 17"/>
          <p:cNvSpPr/>
          <p:nvPr userDrawn="1"/>
        </p:nvSpPr>
        <p:spPr>
          <a:xfrm>
            <a:off x="12293601" y="857900"/>
            <a:ext cx="330201" cy="360000"/>
          </a:xfrm>
          <a:prstGeom prst="rect">
            <a:avLst/>
          </a:prstGeom>
          <a:solidFill>
            <a:srgbClr val="EBEBE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</p:spTree>
    <p:extLst>
      <p:ext uri="{BB962C8B-B14F-4D97-AF65-F5344CB8AC3E}">
        <p14:creationId xmlns:p14="http://schemas.microsoft.com/office/powerpoint/2010/main" val="1343910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742987" rtl="0" eaLnBrk="1" latinLnBrk="1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j-cs"/>
        </a:defRPr>
      </a:lvl1pPr>
    </p:titleStyle>
    <p:bodyStyle>
      <a:lvl1pPr marL="185746" indent="-185746" algn="l" defTabSz="742987" rtl="0" eaLnBrk="1" latinLnBrk="1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1pPr>
      <a:lvl2pPr marL="55724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2pPr>
      <a:lvl3pPr marL="928734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3pPr>
      <a:lvl4pPr marL="1300228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4pPr>
      <a:lvl5pPr marL="1671722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5pPr>
      <a:lvl6pPr marL="2043215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709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20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696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9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87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81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7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468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962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455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949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81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38FD0-6FAE-0E8E-0614-765E68C4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80343202-13D2-BCC8-CB43-EC3B8A252399}"/>
              </a:ext>
            </a:extLst>
          </p:cNvPr>
          <p:cNvSpPr/>
          <p:nvPr/>
        </p:nvSpPr>
        <p:spPr>
          <a:xfrm>
            <a:off x="2366000" y="3196460"/>
            <a:ext cx="7523435" cy="362515"/>
          </a:xfrm>
          <a:prstGeom prst="rightArrow">
            <a:avLst>
              <a:gd name="adj1" fmla="val 50000"/>
              <a:gd name="adj2" fmla="val 101533"/>
            </a:avLst>
          </a:prstGeom>
          <a:solidFill>
            <a:srgbClr val="D9E1F2"/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24156D0-D419-CC52-6F5A-6AA796C304D9}"/>
              </a:ext>
            </a:extLst>
          </p:cNvPr>
          <p:cNvCxnSpPr>
            <a:cxnSpLocks/>
          </p:cNvCxnSpPr>
          <p:nvPr/>
        </p:nvCxnSpPr>
        <p:spPr>
          <a:xfrm>
            <a:off x="407988" y="882172"/>
            <a:ext cx="11376025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59D821-7B78-FA45-3915-0C407D2A2425}"/>
              </a:ext>
            </a:extLst>
          </p:cNvPr>
          <p:cNvSpPr txBox="1"/>
          <p:nvPr/>
        </p:nvSpPr>
        <p:spPr>
          <a:xfrm>
            <a:off x="310895" y="504183"/>
            <a:ext cx="8160005" cy="38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altLang="ko-KR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CLiCK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IAM MICRO _ Competency Analysis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_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리더십 영향력 진단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_ {{NAME}}</a:t>
            </a:r>
            <a:endParaRPr lang="ko-KR" altLang="en-US" dirty="0"/>
          </a:p>
        </p:txBody>
      </p:sp>
      <p:pic>
        <p:nvPicPr>
          <p:cNvPr id="11" name="circle1">
            <a:extLst>
              <a:ext uri="{FF2B5EF4-FFF2-40B4-BE49-F238E27FC236}">
                <a16:creationId xmlns:a16="http://schemas.microsoft.com/office/drawing/2014/main" id="{78BD61EB-1D6B-EF6F-3261-F263E6F3C4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1" y="3216154"/>
            <a:ext cx="844983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graphicFrame>
        <p:nvGraphicFramePr>
          <p:cNvPr id="16" name="chart_phase">
            <a:extLst>
              <a:ext uri="{FF2B5EF4-FFF2-40B4-BE49-F238E27FC236}">
                <a16:creationId xmlns:a16="http://schemas.microsoft.com/office/drawing/2014/main" id="{E3FBC192-41E3-EE9C-5C68-F9F04489C9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7518274"/>
              </p:ext>
            </p:extLst>
          </p:nvPr>
        </p:nvGraphicFramePr>
        <p:xfrm>
          <a:off x="2100263" y="1526931"/>
          <a:ext cx="7920037" cy="2021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01A91-6977-7F37-CDED-A2F529CBE69D}"/>
              </a:ext>
            </a:extLst>
          </p:cNvPr>
          <p:cNvSpPr/>
          <p:nvPr/>
        </p:nvSpPr>
        <p:spPr>
          <a:xfrm>
            <a:off x="4850320" y="1371367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단계 진단 결과</a:t>
            </a:r>
          </a:p>
        </p:txBody>
      </p:sp>
      <p:pic>
        <p:nvPicPr>
          <p:cNvPr id="2" name="circle2">
            <a:extLst>
              <a:ext uri="{FF2B5EF4-FFF2-40B4-BE49-F238E27FC236}">
                <a16:creationId xmlns:a16="http://schemas.microsoft.com/office/drawing/2014/main" id="{A5198007-C77A-BF58-C790-A9948191397E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536" y="3213331"/>
            <a:ext cx="1142784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DD084C-77AE-66C8-8209-19A192CFE15D}"/>
              </a:ext>
            </a:extLst>
          </p:cNvPr>
          <p:cNvSpPr/>
          <p:nvPr/>
        </p:nvSpPr>
        <p:spPr>
          <a:xfrm>
            <a:off x="2376161" y="4409995"/>
            <a:ext cx="3000052" cy="163833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49CAB3-CB25-C169-7E96-1C265791EA08}"/>
              </a:ext>
            </a:extLst>
          </p:cNvPr>
          <p:cNvSpPr/>
          <p:nvPr/>
        </p:nvSpPr>
        <p:spPr>
          <a:xfrm>
            <a:off x="5395868" y="4409994"/>
            <a:ext cx="4483627" cy="1638333"/>
          </a:xfrm>
          <a:prstGeom prst="rect">
            <a:avLst/>
          </a:prstGeom>
          <a:solidFill>
            <a:srgbClr val="FFF2CC">
              <a:alpha val="50000"/>
            </a:srgb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B088466-D7BD-DE1C-3085-796A364D2DE3}"/>
              </a:ext>
            </a:extLst>
          </p:cNvPr>
          <p:cNvCxnSpPr>
            <a:cxnSpLocks/>
          </p:cNvCxnSpPr>
          <p:nvPr/>
        </p:nvCxnSpPr>
        <p:spPr>
          <a:xfrm>
            <a:off x="5385930" y="4031135"/>
            <a:ext cx="0" cy="20027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387C896-E70F-95F1-2805-DCE63AFBF230}"/>
              </a:ext>
            </a:extLst>
          </p:cNvPr>
          <p:cNvSpPr/>
          <p:nvPr/>
        </p:nvSpPr>
        <p:spPr>
          <a:xfrm>
            <a:off x="3618118" y="3984599"/>
            <a:ext cx="495816" cy="18399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Pull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8E00689-EAD5-4DC3-1E1E-286D0DEBE48A}"/>
              </a:ext>
            </a:extLst>
          </p:cNvPr>
          <p:cNvSpPr/>
          <p:nvPr/>
        </p:nvSpPr>
        <p:spPr>
          <a:xfrm>
            <a:off x="7350781" y="3951489"/>
            <a:ext cx="564088" cy="24978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Push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FB11729-C966-CE00-D6DA-9498794C3ED0}"/>
              </a:ext>
            </a:extLst>
          </p:cNvPr>
          <p:cNvCxnSpPr/>
          <p:nvPr/>
        </p:nvCxnSpPr>
        <p:spPr>
          <a:xfrm>
            <a:off x="2366000" y="4203362"/>
            <a:ext cx="300005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2AEF78D-84F2-8ADD-0675-73F054E52780}"/>
              </a:ext>
            </a:extLst>
          </p:cNvPr>
          <p:cNvCxnSpPr>
            <a:cxnSpLocks/>
          </p:cNvCxnSpPr>
          <p:nvPr/>
        </p:nvCxnSpPr>
        <p:spPr>
          <a:xfrm>
            <a:off x="5376213" y="4198410"/>
            <a:ext cx="451322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hart_strategy">
            <a:extLst>
              <a:ext uri="{FF2B5EF4-FFF2-40B4-BE49-F238E27FC236}">
                <a16:creationId xmlns:a16="http://schemas.microsoft.com/office/drawing/2014/main" id="{47E6EE2A-CF16-2F0E-4C46-1E0771EAF0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1044565"/>
              </p:ext>
            </p:extLst>
          </p:nvPr>
        </p:nvGraphicFramePr>
        <p:xfrm>
          <a:off x="2100263" y="3859921"/>
          <a:ext cx="7920037" cy="2522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circle5">
            <a:extLst>
              <a:ext uri="{FF2B5EF4-FFF2-40B4-BE49-F238E27FC236}">
                <a16:creationId xmlns:a16="http://schemas.microsoft.com/office/drawing/2014/main" id="{DE183647-22AA-8541-A121-4BE048DAF43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90" y="6019533"/>
            <a:ext cx="819157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26" name="circle3">
            <a:extLst>
              <a:ext uri="{FF2B5EF4-FFF2-40B4-BE49-F238E27FC236}">
                <a16:creationId xmlns:a16="http://schemas.microsoft.com/office/drawing/2014/main" id="{2D291F2A-0334-B8AD-4C34-E9777ACBBFC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389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3FB0037-B5C4-44C8-083F-D2619B89D426}"/>
              </a:ext>
            </a:extLst>
          </p:cNvPr>
          <p:cNvSpPr txBox="1"/>
          <p:nvPr/>
        </p:nvSpPr>
        <p:spPr>
          <a:xfrm>
            <a:off x="310895" y="919070"/>
            <a:ext cx="11473117" cy="317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400" b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{{NAME}}</a:t>
            </a:r>
            <a:r>
              <a:rPr lang="ko-KR" altLang="en-US" dirty="0"/>
              <a:t> 님의 리더십 영향력 전략 진단 결과는 다음과 같습니다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F664E7D-D097-A107-B5A2-68D60C9810B4}"/>
              </a:ext>
            </a:extLst>
          </p:cNvPr>
          <p:cNvSpPr/>
          <p:nvPr/>
        </p:nvSpPr>
        <p:spPr>
          <a:xfrm>
            <a:off x="4850320" y="3718726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전략 진단 결과</a:t>
            </a:r>
          </a:p>
        </p:txBody>
      </p:sp>
      <p:pic>
        <p:nvPicPr>
          <p:cNvPr id="3" name="circle4">
            <a:extLst>
              <a:ext uri="{FF2B5EF4-FFF2-40B4-BE49-F238E27FC236}">
                <a16:creationId xmlns:a16="http://schemas.microsoft.com/office/drawing/2014/main" id="{77DBAD45-D411-0847-E9A4-B03255C4962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87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8185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24C4-D97F-0FCB-6159-E3E69148B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50CBCE63-26BC-4CEC-0F9F-FDB1E29C498C}"/>
              </a:ext>
            </a:extLst>
          </p:cNvPr>
          <p:cNvSpPr/>
          <p:nvPr/>
        </p:nvSpPr>
        <p:spPr>
          <a:xfrm>
            <a:off x="2366000" y="3196460"/>
            <a:ext cx="7523435" cy="362515"/>
          </a:xfrm>
          <a:prstGeom prst="rightArrow">
            <a:avLst>
              <a:gd name="adj1" fmla="val 50000"/>
              <a:gd name="adj2" fmla="val 101533"/>
            </a:avLst>
          </a:prstGeom>
          <a:solidFill>
            <a:srgbClr val="D9E1F2"/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82F79B1-5989-5375-AD78-9299401C1967}"/>
              </a:ext>
            </a:extLst>
          </p:cNvPr>
          <p:cNvCxnSpPr>
            <a:cxnSpLocks/>
          </p:cNvCxnSpPr>
          <p:nvPr/>
        </p:nvCxnSpPr>
        <p:spPr>
          <a:xfrm>
            <a:off x="407988" y="882172"/>
            <a:ext cx="11376025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circle1">
            <a:extLst>
              <a:ext uri="{FF2B5EF4-FFF2-40B4-BE49-F238E27FC236}">
                <a16:creationId xmlns:a16="http://schemas.microsoft.com/office/drawing/2014/main" id="{B69479EA-AF1B-2D3C-A0B6-06FAC46D4D9C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1" y="3216154"/>
            <a:ext cx="844983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graphicFrame>
        <p:nvGraphicFramePr>
          <p:cNvPr id="16" name="chart_phase">
            <a:extLst>
              <a:ext uri="{FF2B5EF4-FFF2-40B4-BE49-F238E27FC236}">
                <a16:creationId xmlns:a16="http://schemas.microsoft.com/office/drawing/2014/main" id="{A817EE17-3FF6-84B0-2D1E-8B7B43BA609C}"/>
              </a:ext>
            </a:extLst>
          </p:cNvPr>
          <p:cNvGraphicFramePr/>
          <p:nvPr/>
        </p:nvGraphicFramePr>
        <p:xfrm>
          <a:off x="2100263" y="1526931"/>
          <a:ext cx="7920037" cy="2021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7206BCB-1E2E-8406-7952-5E0B1C11E191}"/>
              </a:ext>
            </a:extLst>
          </p:cNvPr>
          <p:cNvSpPr/>
          <p:nvPr/>
        </p:nvSpPr>
        <p:spPr>
          <a:xfrm>
            <a:off x="4850320" y="1371367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단계 진단 결과</a:t>
            </a:r>
          </a:p>
        </p:txBody>
      </p:sp>
      <p:pic>
        <p:nvPicPr>
          <p:cNvPr id="2" name="circle2">
            <a:extLst>
              <a:ext uri="{FF2B5EF4-FFF2-40B4-BE49-F238E27FC236}">
                <a16:creationId xmlns:a16="http://schemas.microsoft.com/office/drawing/2014/main" id="{F4A57BCD-AF8F-B184-49AB-2A7F3B480D64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536" y="3213331"/>
            <a:ext cx="1142784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8636F9-A6EC-B7A4-E4E8-E325B8D8F2FE}"/>
              </a:ext>
            </a:extLst>
          </p:cNvPr>
          <p:cNvSpPr/>
          <p:nvPr/>
        </p:nvSpPr>
        <p:spPr>
          <a:xfrm>
            <a:off x="2376161" y="4409995"/>
            <a:ext cx="3000052" cy="163833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5E4FBC-46E5-A040-78BC-1906B3D923B0}"/>
              </a:ext>
            </a:extLst>
          </p:cNvPr>
          <p:cNvSpPr/>
          <p:nvPr/>
        </p:nvSpPr>
        <p:spPr>
          <a:xfrm>
            <a:off x="5395868" y="4409994"/>
            <a:ext cx="4483627" cy="1638333"/>
          </a:xfrm>
          <a:prstGeom prst="rect">
            <a:avLst/>
          </a:prstGeom>
          <a:solidFill>
            <a:srgbClr val="FFF2CC">
              <a:alpha val="50000"/>
            </a:srgb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27E5A9A-7408-25AE-5E5D-82B381B0C523}"/>
              </a:ext>
            </a:extLst>
          </p:cNvPr>
          <p:cNvCxnSpPr>
            <a:cxnSpLocks/>
          </p:cNvCxnSpPr>
          <p:nvPr/>
        </p:nvCxnSpPr>
        <p:spPr>
          <a:xfrm>
            <a:off x="5385930" y="4031135"/>
            <a:ext cx="0" cy="20027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FBD8B46-DBD2-5A70-E8E9-79DC6B20CAF8}"/>
              </a:ext>
            </a:extLst>
          </p:cNvPr>
          <p:cNvSpPr/>
          <p:nvPr/>
        </p:nvSpPr>
        <p:spPr>
          <a:xfrm>
            <a:off x="3618118" y="3984599"/>
            <a:ext cx="495816" cy="18399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Pull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5723E9A-7D43-367B-AA2A-EDB1C597882B}"/>
              </a:ext>
            </a:extLst>
          </p:cNvPr>
          <p:cNvSpPr/>
          <p:nvPr/>
        </p:nvSpPr>
        <p:spPr>
          <a:xfrm>
            <a:off x="7350781" y="3951489"/>
            <a:ext cx="564088" cy="24978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Push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7E182E-5047-EDDF-B325-174D3B7DAEAA}"/>
              </a:ext>
            </a:extLst>
          </p:cNvPr>
          <p:cNvCxnSpPr/>
          <p:nvPr/>
        </p:nvCxnSpPr>
        <p:spPr>
          <a:xfrm>
            <a:off x="2366000" y="4203362"/>
            <a:ext cx="300005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5DDA1C22-6CD3-9671-0A5D-D4477372CCB6}"/>
              </a:ext>
            </a:extLst>
          </p:cNvPr>
          <p:cNvCxnSpPr>
            <a:cxnSpLocks/>
          </p:cNvCxnSpPr>
          <p:nvPr/>
        </p:nvCxnSpPr>
        <p:spPr>
          <a:xfrm>
            <a:off x="5376213" y="4198410"/>
            <a:ext cx="451322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hart_strategy">
            <a:extLst>
              <a:ext uri="{FF2B5EF4-FFF2-40B4-BE49-F238E27FC236}">
                <a16:creationId xmlns:a16="http://schemas.microsoft.com/office/drawing/2014/main" id="{F85F7525-9E19-545D-8F95-98DA3D45D298}"/>
              </a:ext>
            </a:extLst>
          </p:cNvPr>
          <p:cNvGraphicFramePr/>
          <p:nvPr/>
        </p:nvGraphicFramePr>
        <p:xfrm>
          <a:off x="2100263" y="3859921"/>
          <a:ext cx="7920037" cy="2522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circle5">
            <a:extLst>
              <a:ext uri="{FF2B5EF4-FFF2-40B4-BE49-F238E27FC236}">
                <a16:creationId xmlns:a16="http://schemas.microsoft.com/office/drawing/2014/main" id="{63ABE881-363F-5574-6D1A-5703A152FAA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90" y="6019533"/>
            <a:ext cx="819157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26" name="circle3">
            <a:extLst>
              <a:ext uri="{FF2B5EF4-FFF2-40B4-BE49-F238E27FC236}">
                <a16:creationId xmlns:a16="http://schemas.microsoft.com/office/drawing/2014/main" id="{69B39673-2A53-8F76-145B-FE1FD9AAA9A4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389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56DE35A-159E-D1D9-EF91-406BE649DE48}"/>
              </a:ext>
            </a:extLst>
          </p:cNvPr>
          <p:cNvSpPr txBox="1"/>
          <p:nvPr/>
        </p:nvSpPr>
        <p:spPr>
          <a:xfrm>
            <a:off x="310895" y="919070"/>
            <a:ext cx="11473117" cy="317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400" b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{{NAME}}</a:t>
            </a:r>
            <a:r>
              <a:rPr lang="ko-KR" altLang="en-US" dirty="0"/>
              <a:t> 님의 리더십 영향력 전략 진단 결과는 다음과 같습니다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CE2B581-BCE1-DC28-55EF-DC0B82CF1E54}"/>
              </a:ext>
            </a:extLst>
          </p:cNvPr>
          <p:cNvSpPr/>
          <p:nvPr/>
        </p:nvSpPr>
        <p:spPr>
          <a:xfrm>
            <a:off x="4850320" y="3718726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전략 진단 결과</a:t>
            </a:r>
          </a:p>
        </p:txBody>
      </p:sp>
      <p:pic>
        <p:nvPicPr>
          <p:cNvPr id="3" name="circle4">
            <a:extLst>
              <a:ext uri="{FF2B5EF4-FFF2-40B4-BE49-F238E27FC236}">
                <a16:creationId xmlns:a16="http://schemas.microsoft.com/office/drawing/2014/main" id="{E893F35E-236E-E11A-368C-1BB23272DD6A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87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C21A72-E2F3-DFD5-BAAB-31F44D40A4D9}"/>
              </a:ext>
            </a:extLst>
          </p:cNvPr>
          <p:cNvSpPr txBox="1"/>
          <p:nvPr/>
        </p:nvSpPr>
        <p:spPr>
          <a:xfrm>
            <a:off x="310895" y="504183"/>
            <a:ext cx="8160005" cy="38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altLang="ko-KR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CLiCK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IAM MICRO _ Competency Analysis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_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리더십 영향력 진단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_ {{NAME}}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868130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CLiCK 표준제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04040"/>
      </a:accent1>
      <a:accent2>
        <a:srgbClr val="CF5959"/>
      </a:accent2>
      <a:accent3>
        <a:srgbClr val="D48A4C"/>
      </a:accent3>
      <a:accent4>
        <a:srgbClr val="5E986D"/>
      </a:accent4>
      <a:accent5>
        <a:srgbClr val="7AA7CC"/>
      </a:accent5>
      <a:accent6>
        <a:srgbClr val="BC7EBC"/>
      </a:accent6>
      <a:hlink>
        <a:srgbClr val="0563C1"/>
      </a:hlink>
      <a:folHlink>
        <a:srgbClr val="954F72"/>
      </a:folHlink>
    </a:clrScheme>
    <a:fontScheme name="기본">
      <a:majorFont>
        <a:latin typeface="KoPub돋움체 Bold"/>
        <a:ea typeface="KoPub돋움체 Bold"/>
        <a:cs typeface=""/>
      </a:majorFont>
      <a:minorFont>
        <a:latin typeface="KoPub돋움체 Medium"/>
        <a:ea typeface="KoPub돋움체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2C65D8E-933D-4F2F-8063-5E9997022CCD}">
  <we:reference id="wa104380907" version="1.0.0.0" store="ko-KR" storeType="OMEX"/>
  <we:alternateReferences>
    <we:reference id="wa104380907" version="1.0.0.0" store="WA104380907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5660</TotalTime>
  <Words>76</Words>
  <Application>Microsoft Office PowerPoint</Application>
  <PresentationFormat>와이드스크린</PresentationFormat>
  <Paragraphs>12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KoPub돋움체 Medium</vt:lpstr>
      <vt:lpstr>맑은 고딕</vt:lpstr>
      <vt:lpstr>Arial</vt:lpstr>
      <vt:lpstr>1_Office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민정</dc:creator>
  <cp:lastModifiedBy>클릭 3</cp:lastModifiedBy>
  <cp:revision>538</cp:revision>
  <cp:lastPrinted>2020-10-05T07:56:35Z</cp:lastPrinted>
  <dcterms:created xsi:type="dcterms:W3CDTF">2020-04-16T02:29:07Z</dcterms:created>
  <dcterms:modified xsi:type="dcterms:W3CDTF">2026-03-19T06:34:42Z</dcterms:modified>
</cp:coreProperties>
</file>